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 type="screen16x9"/>
  <p:notesSz cx="6858000" cy="9144000"/>
  <p:embeddedFontLst>
    <p:embeddedFont>
      <p:font typeface="Lexend" panose="020B0604020202020204" charset="0"/>
      <p:regular r:id="rId31"/>
      <p:bold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oboto Slab" pitchFamily="2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CEDDC6-489D-4E7B-A60C-A64FB7109CF7}">
  <a:tblStyle styleId="{A9CEDDC6-489D-4E7B-A60C-A64FB7109C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37b7f9b09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37b7f9b09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45529cf4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45529cf4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7b7f9b09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37b7f9b09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481d3c63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481d3c63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481d3c632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481d3c632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481d3c632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481d3c632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ada343d1a6c020d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ada343d1a6c020d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481d3c63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481d3c63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497f44cb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497f44cb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497f44cb8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497f44cb8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481d3c63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481d3c63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481d3c63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481d3c63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481d3c632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481d3c632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64c36c5f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64c36c5f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ada343d1a6c020d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ada343d1a6c020d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6bb075e30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6bb075e30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497f44cb8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497f44cb8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481d3c632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481d3c632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573457f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573457f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573457fc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573457fc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64c36c5f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64c36c5f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64c36c5fd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64c36c5fd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481d3c63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a481d3c63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481d3c632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481d3c632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83bcf8a6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83bcf8a6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573457fc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573457fc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6bb075e30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6bb075e30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21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ctrTitle"/>
          </p:nvPr>
        </p:nvSpPr>
        <p:spPr>
          <a:xfrm>
            <a:off x="1494800" y="1708431"/>
            <a:ext cx="6061200" cy="1121100"/>
          </a:xfrm>
          <a:prstGeom prst="rect">
            <a:avLst/>
          </a:prstGeom>
          <a:ln w="9525" cap="flat" cmpd="sng">
            <a:solidFill>
              <a:srgbClr val="0051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5000" b="1">
                <a:latin typeface="Lexend"/>
                <a:ea typeface="Lexend"/>
                <a:cs typeface="Lexend"/>
                <a:sym typeface="Lexend"/>
              </a:rPr>
              <a:t>GO/HPO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300"/>
          </a:p>
        </p:txBody>
      </p:sp>
      <p:sp>
        <p:nvSpPr>
          <p:cNvPr id="109" name="Google Shape;109;p25"/>
          <p:cNvSpPr txBox="1">
            <a:spLocks noGrp="1"/>
          </p:cNvSpPr>
          <p:nvPr>
            <p:ph type="subTitle" idx="1"/>
          </p:nvPr>
        </p:nvSpPr>
        <p:spPr>
          <a:xfrm>
            <a:off x="1928400" y="2983775"/>
            <a:ext cx="5287200" cy="12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Porcelli Angelica - 78083A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Roveda Gianluca - 73814A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Stefanelli Marta - 84393A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/>
          <p:nvPr/>
        </p:nvSpPr>
        <p:spPr>
          <a:xfrm>
            <a:off x="0" y="0"/>
            <a:ext cx="3509100" cy="5143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6"/>
          <p:cNvSpPr txBox="1">
            <a:spLocks noGrp="1"/>
          </p:cNvSpPr>
          <p:nvPr>
            <p:ph type="title"/>
          </p:nvPr>
        </p:nvSpPr>
        <p:spPr>
          <a:xfrm>
            <a:off x="256025" y="204700"/>
            <a:ext cx="2294700" cy="8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WORK FLOW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3535185" y="1136050"/>
            <a:ext cx="4347300" cy="3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dataset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Feature selection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Jaccard function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TF - IDF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different views and HPO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Similar Network Fusion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HDBSCAN and UMAP clusters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Cluster analysis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 analysis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" name="Google Shape;117;p26"/>
          <p:cNvCxnSpPr/>
          <p:nvPr/>
        </p:nvCxnSpPr>
        <p:spPr>
          <a:xfrm rot="10800000" flipH="1">
            <a:off x="198494" y="1038089"/>
            <a:ext cx="2250900" cy="3300"/>
          </a:xfrm>
          <a:prstGeom prst="straightConnector1">
            <a:avLst/>
          </a:prstGeom>
          <a:noFill/>
          <a:ln w="38100" cap="flat" cmpd="sng">
            <a:solidFill>
              <a:srgbClr val="00517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" name="Google Shape;118;p26"/>
          <p:cNvSpPr txBox="1"/>
          <p:nvPr/>
        </p:nvSpPr>
        <p:spPr>
          <a:xfrm>
            <a:off x="3085498" y="1127350"/>
            <a:ext cx="401400" cy="3788400"/>
          </a:xfrm>
          <a:prstGeom prst="rect">
            <a:avLst/>
          </a:prstGeom>
          <a:noFill/>
          <a:ln w="2857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0.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5.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6.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7.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8.</a:t>
            </a:r>
            <a:endParaRPr sz="1800" b="1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/>
        </p:nvSpPr>
        <p:spPr>
          <a:xfrm>
            <a:off x="4221828" y="2163884"/>
            <a:ext cx="4383300" cy="1838400"/>
          </a:xfrm>
          <a:prstGeom prst="rect">
            <a:avLst/>
          </a:prstGeom>
          <a:noFill/>
          <a:ln w="2857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of gene, with four different binary representation: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-"/>
            </a:pPr>
            <a:r>
              <a:rPr lang="it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CC</a:t>
            </a: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Cellular Component.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-"/>
            </a:pPr>
            <a:r>
              <a:rPr lang="it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MF</a:t>
            </a: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Molecular Function.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-"/>
            </a:pPr>
            <a:r>
              <a:rPr lang="it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BP</a:t>
            </a: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Biological Process.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-"/>
            </a:pPr>
            <a:r>
              <a:rPr lang="it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HPO</a:t>
            </a: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Phenotype.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18189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3111">
                <a:latin typeface="Lexend"/>
                <a:ea typeface="Lexend"/>
                <a:cs typeface="Lexend"/>
                <a:sym typeface="Lexend"/>
              </a:rPr>
              <a:t>DATASET</a:t>
            </a:r>
            <a:endParaRPr sz="311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1093194" y="3956956"/>
            <a:ext cx="2347200" cy="7596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Cellular Component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1093194" y="2703281"/>
            <a:ext cx="2347200" cy="7596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Molecular Function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1093194" y="1449606"/>
            <a:ext cx="2347200" cy="7596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Biological Process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27"/>
          <p:cNvSpPr/>
          <p:nvPr/>
        </p:nvSpPr>
        <p:spPr>
          <a:xfrm rot="10800000">
            <a:off x="2167318" y="3556840"/>
            <a:ext cx="181500" cy="309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7"/>
          <p:cNvSpPr/>
          <p:nvPr/>
        </p:nvSpPr>
        <p:spPr>
          <a:xfrm rot="10800000">
            <a:off x="2142578" y="2301602"/>
            <a:ext cx="181500" cy="309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/>
          <p:nvPr/>
        </p:nvSpPr>
        <p:spPr>
          <a:xfrm>
            <a:off x="225000" y="1646518"/>
            <a:ext cx="8694000" cy="3429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Frequency filtering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FEATURE SELECTION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28"/>
          <p:cNvSpPr txBox="1">
            <a:spLocks noGrp="1"/>
          </p:cNvSpPr>
          <p:nvPr>
            <p:ph type="body" idx="1"/>
          </p:nvPr>
        </p:nvSpPr>
        <p:spPr>
          <a:xfrm>
            <a:off x="3953550" y="1989425"/>
            <a:ext cx="50337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exend"/>
              <a:buChar char="●"/>
            </a:pPr>
            <a:r>
              <a:rPr lang="it" sz="1500">
                <a:latin typeface="Lexend"/>
                <a:ea typeface="Lexend"/>
                <a:cs typeface="Lexend"/>
                <a:sym typeface="Lexend"/>
              </a:rPr>
              <a:t>Removes terms that annotate </a:t>
            </a:r>
            <a:r>
              <a:rPr lang="it" sz="1500" b="1">
                <a:latin typeface="Lexend"/>
                <a:ea typeface="Lexend"/>
                <a:cs typeface="Lexend"/>
                <a:sym typeface="Lexend"/>
              </a:rPr>
              <a:t>&lt; 3 genes</a:t>
            </a:r>
            <a:endParaRPr sz="1500" b="1"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it" sz="1500">
                <a:latin typeface="Lexend"/>
                <a:ea typeface="Lexend"/>
                <a:cs typeface="Lexend"/>
                <a:sym typeface="Lexend"/>
              </a:rPr>
              <a:t>Removes terms present in </a:t>
            </a:r>
            <a:r>
              <a:rPr lang="it" sz="1500" b="1">
                <a:latin typeface="Lexend"/>
                <a:ea typeface="Lexend"/>
                <a:cs typeface="Lexend"/>
                <a:sym typeface="Lexend"/>
              </a:rPr>
              <a:t>&gt; 20% of genes</a:t>
            </a:r>
            <a:endParaRPr sz="1500" b="1"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exend"/>
              <a:buChar char="●"/>
            </a:pPr>
            <a:r>
              <a:rPr lang="it" sz="1500">
                <a:latin typeface="Lexend"/>
                <a:ea typeface="Lexend"/>
                <a:cs typeface="Lexend"/>
                <a:sym typeface="Lexend"/>
              </a:rPr>
              <a:t>Eliminates both overly frequent and overly rare terms.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" name="Google Shape;137;p28" title="Screenshot 2025-11-17 alle 10.16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00" y="2112502"/>
            <a:ext cx="3013700" cy="86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8" title="Screenshot 2025-11-17 alle 10.17.10.png"/>
          <p:cNvPicPr preferRelativeResize="0"/>
          <p:nvPr/>
        </p:nvPicPr>
        <p:blipFill rotWithShape="1">
          <a:blip r:embed="rId4">
            <a:alphaModFix/>
          </a:blip>
          <a:srcRect t="10594"/>
          <a:stretch/>
        </p:blipFill>
        <p:spPr>
          <a:xfrm>
            <a:off x="998238" y="4065870"/>
            <a:ext cx="2617225" cy="4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8"/>
          <p:cNvSpPr/>
          <p:nvPr/>
        </p:nvSpPr>
        <p:spPr>
          <a:xfrm>
            <a:off x="225000" y="3536593"/>
            <a:ext cx="8694000" cy="3429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Redundant column removal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3953550" y="3957250"/>
            <a:ext cx="50337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Uses Jaccard on sparse matrices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Removes quasi-identical columns (</a:t>
            </a: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Jaccard ≥ 0.9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/>
          <p:nvPr/>
        </p:nvSpPr>
        <p:spPr>
          <a:xfrm>
            <a:off x="0" y="2297518"/>
            <a:ext cx="9144000" cy="12198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29"/>
          <p:cNvSpPr/>
          <p:nvPr/>
        </p:nvSpPr>
        <p:spPr>
          <a:xfrm>
            <a:off x="-6336" y="3579254"/>
            <a:ext cx="9144000" cy="128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2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SINGLE </a:t>
            </a:r>
            <a:r>
              <a:rPr lang="it" sz="2800" b="1">
                <a:latin typeface="Lexend"/>
                <a:ea typeface="Lexend"/>
                <a:cs typeface="Lexend"/>
                <a:sym typeface="Lexend"/>
              </a:rPr>
              <a:t>JACCARD</a:t>
            </a:r>
            <a:r>
              <a:rPr lang="it" sz="2800">
                <a:latin typeface="Lexend"/>
                <a:ea typeface="Lexend"/>
                <a:cs typeface="Lexend"/>
                <a:sym typeface="Lexend"/>
              </a:rPr>
              <a:t> FUNCTION</a:t>
            </a:r>
            <a:endParaRPr sz="2800"/>
          </a:p>
        </p:txBody>
      </p:sp>
      <p:sp>
        <p:nvSpPr>
          <p:cNvPr id="148" name="Google Shape;148;p29"/>
          <p:cNvSpPr txBox="1">
            <a:spLocks noGrp="1"/>
          </p:cNvSpPr>
          <p:nvPr>
            <p:ph type="body" idx="1"/>
          </p:nvPr>
        </p:nvSpPr>
        <p:spPr>
          <a:xfrm>
            <a:off x="387900" y="1419364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00">
                <a:latin typeface="Lexend"/>
                <a:ea typeface="Lexend"/>
                <a:cs typeface="Lexend"/>
                <a:sym typeface="Lexend"/>
              </a:rPr>
              <a:t>For each view, it takes a </a:t>
            </a:r>
            <a:r>
              <a:rPr lang="it" sz="1700" b="1">
                <a:latin typeface="Lexend"/>
                <a:ea typeface="Lexend"/>
                <a:cs typeface="Lexend"/>
                <a:sym typeface="Lexend"/>
              </a:rPr>
              <a:t>matrix</a:t>
            </a:r>
            <a:r>
              <a:rPr lang="it" sz="1700">
                <a:latin typeface="Lexend"/>
                <a:ea typeface="Lexend"/>
                <a:cs typeface="Lexend"/>
                <a:sym typeface="Lexend"/>
              </a:rPr>
              <a:t> and uses the </a:t>
            </a:r>
            <a:r>
              <a:rPr lang="it" sz="1700" b="1">
                <a:latin typeface="Lexend"/>
                <a:ea typeface="Lexend"/>
                <a:cs typeface="Lexend"/>
                <a:sym typeface="Lexend"/>
              </a:rPr>
              <a:t>Jaccard index </a:t>
            </a:r>
            <a:r>
              <a:rPr lang="it" sz="1700">
                <a:latin typeface="Lexend"/>
                <a:ea typeface="Lexend"/>
                <a:cs typeface="Lexend"/>
                <a:sym typeface="Lexend"/>
              </a:rPr>
              <a:t>to build the similarity matrices for each view.</a:t>
            </a:r>
            <a:endParaRPr sz="15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29" title="Screenshot 2025-11-17 alle 10.36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4921" y="488025"/>
            <a:ext cx="1994961" cy="686100"/>
          </a:xfrm>
          <a:prstGeom prst="rect">
            <a:avLst/>
          </a:prstGeom>
          <a:noFill/>
          <a:ln w="2857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0" name="Google Shape;150;p29" title="Screenshot 2025-11-17 alle 11.30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2762" y="2350725"/>
            <a:ext cx="5638933" cy="1088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 title="Screenshot 2025-11-17 alle 11.32.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2762" y="3638050"/>
            <a:ext cx="5665600" cy="11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1160731" y="2647775"/>
            <a:ext cx="854400" cy="4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00" b="1">
                <a:latin typeface="Lexend"/>
                <a:ea typeface="Lexend"/>
                <a:cs typeface="Lexend"/>
                <a:sym typeface="Lexend"/>
              </a:rPr>
              <a:t>Input</a:t>
            </a:r>
            <a:endParaRPr sz="1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29"/>
          <p:cNvSpPr txBox="1">
            <a:spLocks noGrp="1"/>
          </p:cNvSpPr>
          <p:nvPr>
            <p:ph type="body" idx="1"/>
          </p:nvPr>
        </p:nvSpPr>
        <p:spPr>
          <a:xfrm>
            <a:off x="1033673" y="3955562"/>
            <a:ext cx="1108500" cy="4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00" b="1">
                <a:latin typeface="Lexend"/>
                <a:ea typeface="Lexend"/>
                <a:cs typeface="Lexend"/>
                <a:sym typeface="Lexend"/>
              </a:rPr>
              <a:t>Output</a:t>
            </a:r>
            <a:endParaRPr sz="15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/>
          <p:nvPr/>
        </p:nvSpPr>
        <p:spPr>
          <a:xfrm>
            <a:off x="525075" y="4326329"/>
            <a:ext cx="7337700" cy="5937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457425" y="2075849"/>
            <a:ext cx="5353500" cy="2697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TF - IDF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0" y="0"/>
            <a:ext cx="8756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457426" y="1311839"/>
            <a:ext cx="7337700" cy="35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Converts the </a:t>
            </a:r>
            <a:r>
              <a:rPr lang="it" sz="1500" b="1" dirty="0">
                <a:latin typeface="Lexend"/>
                <a:ea typeface="Lexend"/>
                <a:cs typeface="Lexend"/>
                <a:sym typeface="Lexend"/>
              </a:rPr>
              <a:t>gene × term</a:t>
            </a: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 matrix </a:t>
            </a:r>
            <a:r>
              <a:rPr lang="it" sz="1500" b="1" dirty="0">
                <a:latin typeface="Lexend"/>
                <a:ea typeface="Lexend"/>
                <a:cs typeface="Lexend"/>
                <a:sym typeface="Lexend"/>
              </a:rPr>
              <a:t>into sparse (CSR) format</a:t>
            </a: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it" sz="1500" dirty="0">
                <a:latin typeface="Lexend"/>
                <a:ea typeface="Lexend"/>
                <a:cs typeface="Lexend"/>
                <a:sym typeface="Lexend"/>
              </a:rPr>
            </a:b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Computes the </a:t>
            </a:r>
            <a:r>
              <a:rPr lang="it" sz="1500" b="1" dirty="0">
                <a:latin typeface="Lexend"/>
                <a:ea typeface="Lexend"/>
                <a:cs typeface="Lexend"/>
                <a:sym typeface="Lexend"/>
              </a:rPr>
              <a:t>document frequency</a:t>
            </a: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 (df_j) f</a:t>
            </a:r>
            <a:r>
              <a:rPr lang="it" sz="1500" b="1" dirty="0">
                <a:latin typeface="Lexend"/>
                <a:ea typeface="Lexend"/>
                <a:cs typeface="Lexend"/>
                <a:sym typeface="Lexend"/>
              </a:rPr>
              <a:t>or each term</a:t>
            </a: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it" sz="1500" dirty="0">
                <a:latin typeface="Lexend"/>
                <a:ea typeface="Lexend"/>
                <a:cs typeface="Lexend"/>
                <a:sym typeface="Lexend"/>
              </a:rPr>
            </a:b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Computes </a:t>
            </a:r>
            <a:r>
              <a:rPr lang="it" sz="1500" b="1" dirty="0">
                <a:latin typeface="Lexend"/>
                <a:ea typeface="Lexend"/>
                <a:cs typeface="Lexend"/>
                <a:sym typeface="Lexend"/>
              </a:rPr>
              <a:t>IDF = log(N / df_j)</a:t>
            </a:r>
            <a:endParaRPr sz="15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it" sz="1500" dirty="0">
                <a:latin typeface="Lexend"/>
                <a:ea typeface="Lexend"/>
                <a:cs typeface="Lexend"/>
                <a:sym typeface="Lexend"/>
              </a:rPr>
            </a:b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Weights each term using TF-IDF (IDF only, since TF = 1/0)</a:t>
            </a:r>
            <a:br>
              <a:rPr lang="it" sz="1500" dirty="0">
                <a:latin typeface="Lexend"/>
                <a:ea typeface="Lexend"/>
                <a:cs typeface="Lexend"/>
                <a:sym typeface="Lexend"/>
              </a:rPr>
            </a:br>
            <a:br>
              <a:rPr lang="it" sz="1500" dirty="0">
                <a:latin typeface="Lexend"/>
                <a:ea typeface="Lexend"/>
                <a:cs typeface="Lexend"/>
                <a:sym typeface="Lexend"/>
              </a:rPr>
            </a:b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 Output:</a:t>
            </a:r>
            <a:endParaRPr sz="15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TF-IDF matrix (gene × term)</a:t>
            </a:r>
            <a:endParaRPr sz="15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IDF vector for the terms</a:t>
            </a:r>
            <a:endParaRPr sz="1500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 b="1" i="1" dirty="0">
                <a:latin typeface="Lexend"/>
                <a:ea typeface="Lexend"/>
                <a:cs typeface="Lexend"/>
                <a:sym typeface="Lexend"/>
              </a:rPr>
              <a:t>Goal</a:t>
            </a:r>
            <a:r>
              <a:rPr lang="it" sz="1500" dirty="0">
                <a:latin typeface="Lexend"/>
                <a:ea typeface="Lexend"/>
                <a:cs typeface="Lexend"/>
                <a:sym typeface="Lexend"/>
              </a:rPr>
              <a:t>: reduce the importance of very frequent terms and increase that of rare terms → more informative signals.</a:t>
            </a:r>
            <a:endParaRPr sz="1500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/>
          <p:nvPr/>
        </p:nvSpPr>
        <p:spPr>
          <a:xfrm>
            <a:off x="138100" y="973900"/>
            <a:ext cx="31182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565142" y="872541"/>
            <a:ext cx="22641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400" b="1">
                <a:latin typeface="Lexend"/>
                <a:ea typeface="Lexend"/>
                <a:cs typeface="Lexend"/>
                <a:sym typeface="Lexend"/>
              </a:rPr>
              <a:t>CC</a:t>
            </a:r>
            <a:r>
              <a:rPr lang="it" sz="2400">
                <a:latin typeface="Lexend"/>
                <a:ea typeface="Lexend"/>
                <a:cs typeface="Lexend"/>
                <a:sym typeface="Lexend"/>
              </a:rPr>
              <a:t> CLUSTERS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138100" y="2441725"/>
            <a:ext cx="4152300" cy="20913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138100" y="3532946"/>
            <a:ext cx="316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Input: 3248 × 882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138100" y="4039874"/>
            <a:ext cx="377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Clusters: 98, noise points: 861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202276" y="2441725"/>
            <a:ext cx="3468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 MATRIX: CC =========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genes: 5183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terms: 1478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450" y="2079900"/>
            <a:ext cx="4249475" cy="294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1"/>
          <p:cNvPicPr preferRelativeResize="0"/>
          <p:nvPr/>
        </p:nvPicPr>
        <p:blipFill rotWithShape="1">
          <a:blip r:embed="rId4">
            <a:alphaModFix/>
          </a:blip>
          <a:srcRect l="5287" t="9334" r="6885" b="6034"/>
          <a:stretch/>
        </p:blipFill>
        <p:spPr>
          <a:xfrm>
            <a:off x="6247350" y="117425"/>
            <a:ext cx="2757720" cy="187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1"/>
          <p:cNvPicPr preferRelativeResize="0"/>
          <p:nvPr/>
        </p:nvPicPr>
        <p:blipFill rotWithShape="1">
          <a:blip r:embed="rId5">
            <a:alphaModFix/>
          </a:blip>
          <a:srcRect l="3780" t="7549" r="8508" b="3947"/>
          <a:stretch/>
        </p:blipFill>
        <p:spPr>
          <a:xfrm>
            <a:off x="3436975" y="117425"/>
            <a:ext cx="2712825" cy="18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138100" y="117425"/>
            <a:ext cx="3118200" cy="7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latin typeface="Lexend"/>
                <a:ea typeface="Lexend"/>
                <a:cs typeface="Lexend"/>
                <a:sym typeface="Lexend"/>
              </a:rPr>
              <a:t>THREE DIFFERENT VIEWS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3600312" y="440870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6330487" y="440870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4976912" y="2571749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/>
          <p:nvPr/>
        </p:nvSpPr>
        <p:spPr>
          <a:xfrm>
            <a:off x="259975" y="2505100"/>
            <a:ext cx="4008900" cy="20058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430575" y="1131550"/>
            <a:ext cx="1222800" cy="3090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rgbClr val="0051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32"/>
          <p:cNvPicPr preferRelativeResize="0"/>
          <p:nvPr/>
        </p:nvPicPr>
        <p:blipFill rotWithShape="1">
          <a:blip r:embed="rId3">
            <a:alphaModFix/>
          </a:blip>
          <a:srcRect l="4306" t="9347" r="8525" b="2887"/>
          <a:stretch/>
        </p:blipFill>
        <p:spPr>
          <a:xfrm>
            <a:off x="3374086" y="168825"/>
            <a:ext cx="2691514" cy="188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2"/>
          <p:cNvPicPr preferRelativeResize="0"/>
          <p:nvPr/>
        </p:nvPicPr>
        <p:blipFill rotWithShape="1">
          <a:blip r:embed="rId4">
            <a:alphaModFix/>
          </a:blip>
          <a:srcRect l="5680" t="10169" r="7469" b="4302"/>
          <a:stretch/>
        </p:blipFill>
        <p:spPr>
          <a:xfrm>
            <a:off x="6183375" y="168825"/>
            <a:ext cx="2759575" cy="1883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6400" y="2136363"/>
            <a:ext cx="4171049" cy="288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/>
        </p:nvSpPr>
        <p:spPr>
          <a:xfrm>
            <a:off x="298975" y="2529226"/>
            <a:ext cx="3930900" cy="21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 MATRIX: MF =========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genes: 5183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terms: 3258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Input: 3578 × 1337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Clusters: 94, noise points: 693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138100" y="973900"/>
            <a:ext cx="31182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565142" y="884284"/>
            <a:ext cx="22641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300" b="1">
                <a:latin typeface="Lexend"/>
                <a:ea typeface="Lexend"/>
                <a:cs typeface="Lexend"/>
                <a:sym typeface="Lexend"/>
              </a:rPr>
              <a:t>MF</a:t>
            </a:r>
            <a:r>
              <a:rPr lang="it" sz="2300">
                <a:latin typeface="Lexend"/>
                <a:ea typeface="Lexend"/>
                <a:cs typeface="Lexend"/>
                <a:sym typeface="Lexend"/>
              </a:rPr>
              <a:t> CLUSTERS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32"/>
          <p:cNvSpPr txBox="1">
            <a:spLocks noGrp="1"/>
          </p:cNvSpPr>
          <p:nvPr>
            <p:ph type="title"/>
          </p:nvPr>
        </p:nvSpPr>
        <p:spPr>
          <a:xfrm>
            <a:off x="138100" y="117425"/>
            <a:ext cx="3118200" cy="7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latin typeface="Lexend"/>
                <a:ea typeface="Lexend"/>
                <a:cs typeface="Lexend"/>
                <a:sym typeface="Lexend"/>
              </a:rPr>
              <a:t>THREE DIFFERENT VIEWS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32"/>
          <p:cNvSpPr txBox="1">
            <a:spLocks noGrp="1"/>
          </p:cNvSpPr>
          <p:nvPr>
            <p:ph type="title"/>
          </p:nvPr>
        </p:nvSpPr>
        <p:spPr>
          <a:xfrm>
            <a:off x="3546512" y="365545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32"/>
          <p:cNvSpPr txBox="1">
            <a:spLocks noGrp="1"/>
          </p:cNvSpPr>
          <p:nvPr>
            <p:ph type="title"/>
          </p:nvPr>
        </p:nvSpPr>
        <p:spPr>
          <a:xfrm>
            <a:off x="6330487" y="365545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32"/>
          <p:cNvSpPr txBox="1">
            <a:spLocks noGrp="1"/>
          </p:cNvSpPr>
          <p:nvPr>
            <p:ph type="title"/>
          </p:nvPr>
        </p:nvSpPr>
        <p:spPr>
          <a:xfrm>
            <a:off x="4890837" y="2571749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/>
          <p:nvPr/>
        </p:nvSpPr>
        <p:spPr>
          <a:xfrm>
            <a:off x="308676" y="2571748"/>
            <a:ext cx="4036500" cy="19239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/>
          <p:cNvSpPr/>
          <p:nvPr/>
        </p:nvSpPr>
        <p:spPr>
          <a:xfrm>
            <a:off x="430575" y="1131550"/>
            <a:ext cx="1222800" cy="3090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rgbClr val="0051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308674" y="2571749"/>
            <a:ext cx="4131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 MATRIX: BP =========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genes: 5183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terms: 9873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Input: 4786 × 6119 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Clusters: 109, noise points: 1536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3" name="Google Shape;203;p33"/>
          <p:cNvPicPr preferRelativeResize="0"/>
          <p:nvPr/>
        </p:nvPicPr>
        <p:blipFill rotWithShape="1">
          <a:blip r:embed="rId3">
            <a:alphaModFix/>
          </a:blip>
          <a:srcRect l="5238" t="10489" r="7592" b="3459"/>
          <a:stretch/>
        </p:blipFill>
        <p:spPr>
          <a:xfrm>
            <a:off x="3397112" y="324075"/>
            <a:ext cx="2805213" cy="1923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3"/>
          <p:cNvPicPr preferRelativeResize="0"/>
          <p:nvPr/>
        </p:nvPicPr>
        <p:blipFill rotWithShape="1">
          <a:blip r:embed="rId4">
            <a:alphaModFix/>
          </a:blip>
          <a:srcRect l="6371" t="9392" r="7406" b="6516"/>
          <a:stretch/>
        </p:blipFill>
        <p:spPr>
          <a:xfrm>
            <a:off x="6267925" y="324075"/>
            <a:ext cx="2768874" cy="192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334750"/>
            <a:ext cx="3771299" cy="2690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/>
          <p:nvPr/>
        </p:nvSpPr>
        <p:spPr>
          <a:xfrm>
            <a:off x="138100" y="973900"/>
            <a:ext cx="31182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565142" y="896027"/>
            <a:ext cx="22641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400" b="1">
                <a:latin typeface="Lexend"/>
                <a:ea typeface="Lexend"/>
                <a:cs typeface="Lexend"/>
                <a:sym typeface="Lexend"/>
              </a:rPr>
              <a:t>BP</a:t>
            </a:r>
            <a:r>
              <a:rPr lang="it" sz="2400">
                <a:latin typeface="Lexend"/>
                <a:ea typeface="Lexend"/>
                <a:cs typeface="Lexend"/>
                <a:sym typeface="Lexend"/>
              </a:rPr>
              <a:t> CLUSTERS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33"/>
          <p:cNvSpPr txBox="1">
            <a:spLocks noGrp="1"/>
          </p:cNvSpPr>
          <p:nvPr>
            <p:ph type="title"/>
          </p:nvPr>
        </p:nvSpPr>
        <p:spPr>
          <a:xfrm>
            <a:off x="138100" y="117425"/>
            <a:ext cx="3118200" cy="7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latin typeface="Lexend"/>
                <a:ea typeface="Lexend"/>
                <a:cs typeface="Lexend"/>
                <a:sym typeface="Lexend"/>
              </a:rPr>
              <a:t>THREE DIFFERENT VIEWS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33"/>
          <p:cNvSpPr txBox="1">
            <a:spLocks noGrp="1"/>
          </p:cNvSpPr>
          <p:nvPr>
            <p:ph type="title"/>
          </p:nvPr>
        </p:nvSpPr>
        <p:spPr>
          <a:xfrm>
            <a:off x="3600312" y="440870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6330487" y="440870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5052250" y="2775450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430575" y="1131550"/>
            <a:ext cx="1222800" cy="3090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rgbClr val="0051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4"/>
          <p:cNvSpPr/>
          <p:nvPr/>
        </p:nvSpPr>
        <p:spPr>
          <a:xfrm>
            <a:off x="138100" y="2491075"/>
            <a:ext cx="4053300" cy="20421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4"/>
          <p:cNvSpPr txBox="1"/>
          <p:nvPr/>
        </p:nvSpPr>
        <p:spPr>
          <a:xfrm>
            <a:off x="138100" y="2491077"/>
            <a:ext cx="4340100" cy="1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 MATRIX: HPO =========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genes: 5183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terms: 10185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Input: 4702 × 6342 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Clusters: 100, noise points: 1278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48850"/>
            <a:ext cx="4008000" cy="276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4"/>
          <p:cNvPicPr preferRelativeResize="0"/>
          <p:nvPr/>
        </p:nvPicPr>
        <p:blipFill rotWithShape="1">
          <a:blip r:embed="rId4">
            <a:alphaModFix/>
          </a:blip>
          <a:srcRect l="6022" t="10040" r="7442" b="3401"/>
          <a:stretch/>
        </p:blipFill>
        <p:spPr>
          <a:xfrm>
            <a:off x="6202200" y="235275"/>
            <a:ext cx="2774049" cy="19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4"/>
          <p:cNvPicPr preferRelativeResize="0"/>
          <p:nvPr/>
        </p:nvPicPr>
        <p:blipFill rotWithShape="1">
          <a:blip r:embed="rId5">
            <a:alphaModFix/>
          </a:blip>
          <a:srcRect l="4663" t="10113" r="8808" b="6029"/>
          <a:stretch/>
        </p:blipFill>
        <p:spPr>
          <a:xfrm>
            <a:off x="3342225" y="235275"/>
            <a:ext cx="2774056" cy="1923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4"/>
          <p:cNvSpPr/>
          <p:nvPr/>
        </p:nvSpPr>
        <p:spPr>
          <a:xfrm>
            <a:off x="138100" y="973900"/>
            <a:ext cx="31182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406601" y="884284"/>
            <a:ext cx="2581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400" b="1">
                <a:latin typeface="Lexend"/>
                <a:ea typeface="Lexend"/>
                <a:cs typeface="Lexend"/>
                <a:sym typeface="Lexend"/>
              </a:rPr>
              <a:t>HPO</a:t>
            </a:r>
            <a:r>
              <a:rPr lang="it" sz="2400">
                <a:latin typeface="Lexend"/>
                <a:ea typeface="Lexend"/>
                <a:cs typeface="Lexend"/>
                <a:sym typeface="Lexend"/>
              </a:rPr>
              <a:t> CLUSTERS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3471186" y="322505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34"/>
          <p:cNvSpPr txBox="1">
            <a:spLocks noGrp="1"/>
          </p:cNvSpPr>
          <p:nvPr>
            <p:ph type="title"/>
          </p:nvPr>
        </p:nvSpPr>
        <p:spPr>
          <a:xfrm>
            <a:off x="6319726" y="322500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34"/>
          <p:cNvSpPr txBox="1">
            <a:spLocks noGrp="1"/>
          </p:cNvSpPr>
          <p:nvPr>
            <p:ph type="title"/>
          </p:nvPr>
        </p:nvSpPr>
        <p:spPr>
          <a:xfrm>
            <a:off x="5127562" y="2700124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/>
          <p:nvPr/>
        </p:nvSpPr>
        <p:spPr>
          <a:xfrm>
            <a:off x="0" y="546806"/>
            <a:ext cx="9144000" cy="5616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35"/>
          <p:cNvPicPr preferRelativeResize="0"/>
          <p:nvPr/>
        </p:nvPicPr>
        <p:blipFill rotWithShape="1">
          <a:blip r:embed="rId3">
            <a:alphaModFix/>
          </a:blip>
          <a:srcRect l="6498" t="14120" r="7657" b="5924"/>
          <a:stretch/>
        </p:blipFill>
        <p:spPr>
          <a:xfrm>
            <a:off x="3269425" y="286295"/>
            <a:ext cx="2749600" cy="183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 rotWithShape="1">
          <a:blip r:embed="rId4">
            <a:alphaModFix/>
          </a:blip>
          <a:srcRect t="4287"/>
          <a:stretch/>
        </p:blipFill>
        <p:spPr>
          <a:xfrm>
            <a:off x="4185925" y="2203025"/>
            <a:ext cx="4035476" cy="280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/>
          <p:cNvPicPr preferRelativeResize="0"/>
          <p:nvPr/>
        </p:nvPicPr>
        <p:blipFill rotWithShape="1">
          <a:blip r:embed="rId5">
            <a:alphaModFix/>
          </a:blip>
          <a:srcRect l="6277" t="12546" r="8201" b="6033"/>
          <a:stretch/>
        </p:blipFill>
        <p:spPr>
          <a:xfrm>
            <a:off x="6114800" y="286300"/>
            <a:ext cx="2816461" cy="183465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5"/>
          <p:cNvSpPr txBox="1">
            <a:spLocks noGrp="1"/>
          </p:cNvSpPr>
          <p:nvPr>
            <p:ph type="title"/>
          </p:nvPr>
        </p:nvSpPr>
        <p:spPr>
          <a:xfrm>
            <a:off x="111900" y="600625"/>
            <a:ext cx="28575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Lexend"/>
                <a:ea typeface="Lexend"/>
                <a:cs typeface="Lexend"/>
                <a:sym typeface="Lexend"/>
              </a:rPr>
              <a:t>CURIOSITY FOR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111900" y="2571750"/>
            <a:ext cx="3989700" cy="19086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 MATRIX: COMPOSED ========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genes: 5183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original terms: 14609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Input: 5117 × 8265 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Clusters: 38, noise points: 1810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" name="Google Shape;237;p35"/>
          <p:cNvSpPr/>
          <p:nvPr/>
        </p:nvSpPr>
        <p:spPr>
          <a:xfrm>
            <a:off x="122875" y="1154375"/>
            <a:ext cx="1150200" cy="359400"/>
          </a:xfrm>
          <a:prstGeom prst="rect">
            <a:avLst/>
          </a:prstGeom>
          <a:solidFill>
            <a:srgbClr val="00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5"/>
          <p:cNvSpPr txBox="1">
            <a:spLocks noGrp="1"/>
          </p:cNvSpPr>
          <p:nvPr>
            <p:ph type="title"/>
          </p:nvPr>
        </p:nvSpPr>
        <p:spPr>
          <a:xfrm>
            <a:off x="90419" y="943578"/>
            <a:ext cx="2988600" cy="12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Composed (CC-MF-BP)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35"/>
          <p:cNvSpPr txBox="1">
            <a:spLocks noGrp="1"/>
          </p:cNvSpPr>
          <p:nvPr>
            <p:ph type="title"/>
          </p:nvPr>
        </p:nvSpPr>
        <p:spPr>
          <a:xfrm>
            <a:off x="3568037" y="546795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6209437" y="546795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35"/>
          <p:cNvSpPr txBox="1">
            <a:spLocks noGrp="1"/>
          </p:cNvSpPr>
          <p:nvPr>
            <p:ph type="title"/>
          </p:nvPr>
        </p:nvSpPr>
        <p:spPr>
          <a:xfrm>
            <a:off x="4664887" y="2571749"/>
            <a:ext cx="4260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/>
          <p:nvPr/>
        </p:nvSpPr>
        <p:spPr>
          <a:xfrm>
            <a:off x="0" y="0"/>
            <a:ext cx="3509100" cy="5143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6"/>
          <p:cNvSpPr/>
          <p:nvPr/>
        </p:nvSpPr>
        <p:spPr>
          <a:xfrm>
            <a:off x="3604692" y="2249100"/>
            <a:ext cx="1804800" cy="2868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36"/>
          <p:cNvSpPr txBox="1">
            <a:spLocks noGrp="1"/>
          </p:cNvSpPr>
          <p:nvPr>
            <p:ph type="title"/>
          </p:nvPr>
        </p:nvSpPr>
        <p:spPr>
          <a:xfrm>
            <a:off x="3604700" y="580325"/>
            <a:ext cx="3080700" cy="9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>
                <a:latin typeface="Lexend"/>
                <a:ea typeface="Lexend"/>
                <a:cs typeface="Lexend"/>
                <a:sym typeface="Lexend"/>
              </a:rPr>
              <a:t>PREPARATION FOR SNF</a:t>
            </a:r>
            <a:endParaRPr sz="28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36"/>
          <p:cNvSpPr txBox="1">
            <a:spLocks noGrp="1"/>
          </p:cNvSpPr>
          <p:nvPr>
            <p:ph type="body" idx="1"/>
          </p:nvPr>
        </p:nvSpPr>
        <p:spPr>
          <a:xfrm>
            <a:off x="3509077" y="1706880"/>
            <a:ext cx="5551137" cy="28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dirty="0">
                <a:latin typeface="Lexend"/>
                <a:ea typeface="Lexend"/>
                <a:cs typeface="Lexend"/>
                <a:sym typeface="Lexend"/>
              </a:rPr>
              <a:t>Transforms the raw similarities into a </a:t>
            </a:r>
            <a:r>
              <a:rPr lang="it" sz="1700" b="1" dirty="0">
                <a:latin typeface="Lexend"/>
                <a:ea typeface="Lexend"/>
                <a:cs typeface="Lexend"/>
                <a:sym typeface="Lexend"/>
              </a:rPr>
              <a:t>robust affinity network</a:t>
            </a:r>
            <a:r>
              <a:rPr lang="it" sz="1700" dirty="0">
                <a:latin typeface="Lexend"/>
                <a:ea typeface="Lexend"/>
                <a:cs typeface="Lexend"/>
                <a:sym typeface="Lexend"/>
              </a:rPr>
              <a:t> based on the K nearest neighbors.</a:t>
            </a:r>
            <a:endParaRPr sz="1700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 dirty="0">
                <a:latin typeface="Lexend"/>
                <a:ea typeface="Lexend"/>
                <a:cs typeface="Lexend"/>
                <a:sym typeface="Lexend"/>
              </a:rPr>
              <a:t>It is a fundamental step in the SNF workflow because it ensures:</a:t>
            </a:r>
            <a:endParaRPr sz="17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it" sz="1700" dirty="0">
                <a:latin typeface="Lexend"/>
                <a:ea typeface="Lexend"/>
                <a:cs typeface="Lexend"/>
                <a:sym typeface="Lexend"/>
              </a:rPr>
              <a:t>comparability across different views </a:t>
            </a:r>
            <a:endParaRPr sz="17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it" sz="1700" dirty="0">
                <a:latin typeface="Lexend"/>
                <a:ea typeface="Lexend"/>
                <a:cs typeface="Lexend"/>
                <a:sym typeface="Lexend"/>
              </a:rPr>
              <a:t>robustness to noise</a:t>
            </a:r>
            <a:endParaRPr sz="17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it" sz="1700" dirty="0">
                <a:latin typeface="Lexend"/>
                <a:ea typeface="Lexend"/>
                <a:cs typeface="Lexend"/>
                <a:sym typeface="Lexend"/>
              </a:rPr>
              <a:t>preservation of local structures</a:t>
            </a:r>
            <a:endParaRPr sz="1700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dirty="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89" y="2143361"/>
            <a:ext cx="3384299" cy="11281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00" y="3666769"/>
            <a:ext cx="3384299" cy="340559"/>
          </a:xfrm>
          <a:prstGeom prst="rect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/>
          <p:nvPr/>
        </p:nvSpPr>
        <p:spPr>
          <a:xfrm>
            <a:off x="0" y="3263893"/>
            <a:ext cx="9144000" cy="8100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387900" y="412668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SIMILARITY NETWORK FUSION - </a:t>
            </a:r>
            <a:r>
              <a:rPr lang="it" sz="2800" b="1">
                <a:latin typeface="Lexend"/>
                <a:ea typeface="Lexend"/>
                <a:cs typeface="Lexend"/>
                <a:sym typeface="Lexend"/>
              </a:rPr>
              <a:t>SNF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531525" y="1755075"/>
            <a:ext cx="7983600" cy="11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1800"/>
              </a:spcAft>
              <a:buNone/>
            </a:pPr>
            <a:r>
              <a:rPr lang="it">
                <a:latin typeface="Lexend"/>
                <a:ea typeface="Lexend"/>
                <a:cs typeface="Lexend"/>
                <a:sym typeface="Lexend"/>
              </a:rPr>
              <a:t>SNF </a:t>
            </a:r>
            <a:r>
              <a:rPr lang="it" b="1">
                <a:latin typeface="Lexend"/>
                <a:ea typeface="Lexend"/>
                <a:cs typeface="Lexend"/>
                <a:sym typeface="Lexend"/>
              </a:rPr>
              <a:t>merges the similarity networks of different views</a:t>
            </a:r>
            <a:r>
              <a:rPr lang="it">
                <a:latin typeface="Lexend"/>
                <a:ea typeface="Lexend"/>
                <a:cs typeface="Lexend"/>
                <a:sym typeface="Lexend"/>
              </a:rPr>
              <a:t> (BP, MF, CC) into a </a:t>
            </a:r>
            <a:r>
              <a:rPr lang="it" b="1">
                <a:latin typeface="Lexend"/>
                <a:ea typeface="Lexend"/>
                <a:cs typeface="Lexend"/>
                <a:sym typeface="Lexend"/>
              </a:rPr>
              <a:t>single</a:t>
            </a:r>
            <a:r>
              <a:rPr lang="it">
                <a:latin typeface="Lexend"/>
                <a:ea typeface="Lexend"/>
                <a:cs typeface="Lexend"/>
                <a:sym typeface="Lexend"/>
              </a:rPr>
              <a:t>, more </a:t>
            </a:r>
            <a:r>
              <a:rPr lang="it" b="1">
                <a:latin typeface="Lexend"/>
                <a:ea typeface="Lexend"/>
                <a:cs typeface="Lexend"/>
                <a:sym typeface="Lexend"/>
              </a:rPr>
              <a:t>strong network</a:t>
            </a:r>
            <a:r>
              <a:rPr lang="it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it" b="1">
                <a:latin typeface="Lexend"/>
                <a:ea typeface="Lexend"/>
                <a:cs typeface="Lexend"/>
                <a:sym typeface="Lexend"/>
              </a:rPr>
              <a:t>amplifying shared similarities</a:t>
            </a:r>
            <a:r>
              <a:rPr lang="it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it" b="1">
                <a:latin typeface="Lexend"/>
                <a:ea typeface="Lexend"/>
                <a:cs typeface="Lexend"/>
                <a:sym typeface="Lexend"/>
              </a:rPr>
              <a:t>reducing noise</a:t>
            </a:r>
            <a:r>
              <a:rPr lang="it">
                <a:latin typeface="Lexend"/>
                <a:ea typeface="Lexend"/>
                <a:cs typeface="Lexend"/>
                <a:sym typeface="Lexend"/>
              </a:rPr>
              <a:t>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475" y="3406768"/>
            <a:ext cx="3955705" cy="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6357300" y="3480550"/>
            <a:ext cx="2145900" cy="2388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5055600" y="3241535"/>
            <a:ext cx="3996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600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</a:t>
            </a:r>
            <a:r>
              <a:rPr lang="it" sz="16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it" sz="1600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decided not to consider HPO</a:t>
            </a:r>
            <a:r>
              <a:rPr lang="it" sz="16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but to focus on BP, MF, and CC because give us </a:t>
            </a:r>
            <a:r>
              <a:rPr lang="it" sz="1600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much clearer and more coherent clusters</a:t>
            </a:r>
            <a:r>
              <a:rPr lang="it" sz="16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38"/>
          <p:cNvSpPr/>
          <p:nvPr/>
        </p:nvSpPr>
        <p:spPr>
          <a:xfrm>
            <a:off x="0" y="0"/>
            <a:ext cx="5055600" cy="5143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055600" y="1450646"/>
            <a:ext cx="3862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Cluster 3 is: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poorly defined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share few common characteristics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elements that do not fit well into the more coherent clusters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166125" y="195250"/>
            <a:ext cx="47304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latin typeface="Lexend"/>
                <a:ea typeface="Lexend"/>
                <a:cs typeface="Lexend"/>
                <a:sym typeface="Lexend"/>
              </a:rPr>
              <a:t>WHERE DID THE </a:t>
            </a:r>
            <a:r>
              <a:rPr lang="it" sz="2700" b="1">
                <a:latin typeface="Lexend"/>
                <a:ea typeface="Lexend"/>
                <a:cs typeface="Lexend"/>
                <a:sym typeface="Lexend"/>
              </a:rPr>
              <a:t>HPO</a:t>
            </a:r>
            <a:r>
              <a:rPr lang="it" sz="2700">
                <a:latin typeface="Lexend"/>
                <a:ea typeface="Lexend"/>
                <a:cs typeface="Lexend"/>
                <a:sym typeface="Lexend"/>
              </a:rPr>
              <a:t> GO?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9" name="Google Shape;26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75" y="1520850"/>
            <a:ext cx="4823525" cy="303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/>
          <p:nvPr/>
        </p:nvSpPr>
        <p:spPr>
          <a:xfrm>
            <a:off x="277975" y="1132300"/>
            <a:ext cx="1012800" cy="265200"/>
          </a:xfrm>
          <a:prstGeom prst="rect">
            <a:avLst/>
          </a:prstGeom>
          <a:solidFill>
            <a:srgbClr val="00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9"/>
          <p:cNvSpPr/>
          <p:nvPr/>
        </p:nvSpPr>
        <p:spPr>
          <a:xfrm>
            <a:off x="277986" y="301351"/>
            <a:ext cx="31182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9"/>
          <p:cNvSpPr txBox="1">
            <a:spLocks noGrp="1"/>
          </p:cNvSpPr>
          <p:nvPr>
            <p:ph type="title"/>
          </p:nvPr>
        </p:nvSpPr>
        <p:spPr>
          <a:xfrm>
            <a:off x="239710" y="1129332"/>
            <a:ext cx="43323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600" b="1">
                <a:latin typeface="Lexend"/>
                <a:ea typeface="Lexend"/>
                <a:cs typeface="Lexend"/>
                <a:sym typeface="Lexend"/>
              </a:rPr>
              <a:t>OTHER </a:t>
            </a:r>
            <a:endParaRPr sz="2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600" b="1">
                <a:latin typeface="Lexend"/>
                <a:ea typeface="Lexend"/>
                <a:cs typeface="Lexend"/>
                <a:sym typeface="Lexend"/>
              </a:rPr>
              <a:t>COMBINATIONS</a:t>
            </a:r>
            <a:endParaRPr sz="2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277986" y="375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try…</a:t>
            </a:r>
            <a:endParaRPr sz="900"/>
          </a:p>
        </p:txBody>
      </p:sp>
      <p:pic>
        <p:nvPicPr>
          <p:cNvPr id="278" name="Google Shape;27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763" y="2678808"/>
            <a:ext cx="2549111" cy="21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9811" y="2678820"/>
            <a:ext cx="2646375" cy="21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388" y="2678996"/>
            <a:ext cx="2665374" cy="212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6178" y="123494"/>
            <a:ext cx="3006701" cy="192760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/>
          <p:nvPr/>
        </p:nvSpPr>
        <p:spPr>
          <a:xfrm>
            <a:off x="0" y="2183694"/>
            <a:ext cx="9144000" cy="3072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39"/>
          <p:cNvSpPr txBox="1"/>
          <p:nvPr/>
        </p:nvSpPr>
        <p:spPr>
          <a:xfrm>
            <a:off x="548325" y="2118844"/>
            <a:ext cx="187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PCA + HDBSCAN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39"/>
          <p:cNvSpPr txBox="1"/>
          <p:nvPr/>
        </p:nvSpPr>
        <p:spPr>
          <a:xfrm>
            <a:off x="6761575" y="2118838"/>
            <a:ext cx="187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t-SNE + K-Means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3497125" y="2123308"/>
            <a:ext cx="229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t-SNE + HDBSCAN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39"/>
          <p:cNvSpPr/>
          <p:nvPr/>
        </p:nvSpPr>
        <p:spPr>
          <a:xfrm>
            <a:off x="1085550" y="2687075"/>
            <a:ext cx="609600" cy="10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9"/>
          <p:cNvSpPr/>
          <p:nvPr/>
        </p:nvSpPr>
        <p:spPr>
          <a:xfrm>
            <a:off x="4267200" y="2687075"/>
            <a:ext cx="650700" cy="10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7342425" y="2687075"/>
            <a:ext cx="650700" cy="10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9"/>
          <p:cNvSpPr txBox="1"/>
          <p:nvPr/>
        </p:nvSpPr>
        <p:spPr>
          <a:xfrm>
            <a:off x="4650548" y="1623581"/>
            <a:ext cx="1311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Best K =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"/>
          <p:cNvSpPr txBox="1"/>
          <p:nvPr/>
        </p:nvSpPr>
        <p:spPr>
          <a:xfrm>
            <a:off x="3084000" y="1132300"/>
            <a:ext cx="288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5" name="Google Shape;295;p40"/>
          <p:cNvSpPr/>
          <p:nvPr/>
        </p:nvSpPr>
        <p:spPr>
          <a:xfrm>
            <a:off x="277975" y="1132300"/>
            <a:ext cx="1012800" cy="265200"/>
          </a:xfrm>
          <a:prstGeom prst="rect">
            <a:avLst/>
          </a:prstGeom>
          <a:solidFill>
            <a:srgbClr val="00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0"/>
          <p:cNvSpPr/>
          <p:nvPr/>
        </p:nvSpPr>
        <p:spPr>
          <a:xfrm>
            <a:off x="277956" y="301350"/>
            <a:ext cx="8497800" cy="6861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/>
          </p:nvPr>
        </p:nvSpPr>
        <p:spPr>
          <a:xfrm>
            <a:off x="1970640" y="227756"/>
            <a:ext cx="43323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600" b="1">
                <a:latin typeface="Lexend"/>
                <a:ea typeface="Lexend"/>
                <a:cs typeface="Lexend"/>
                <a:sym typeface="Lexend"/>
              </a:rPr>
              <a:t>MOFA FACTORS</a:t>
            </a:r>
            <a:endParaRPr sz="2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40"/>
          <p:cNvSpPr txBox="1"/>
          <p:nvPr/>
        </p:nvSpPr>
        <p:spPr>
          <a:xfrm>
            <a:off x="277986" y="424481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also try…</a:t>
            </a:r>
            <a:endParaRPr sz="900"/>
          </a:p>
        </p:txBody>
      </p:sp>
      <p:pic>
        <p:nvPicPr>
          <p:cNvPr id="299" name="Google Shape;29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375" y="1132299"/>
            <a:ext cx="2657646" cy="210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0"/>
          <p:cNvPicPr preferRelativeResize="0"/>
          <p:nvPr/>
        </p:nvPicPr>
        <p:blipFill rotWithShape="1">
          <a:blip r:embed="rId4">
            <a:alphaModFix/>
          </a:blip>
          <a:srcRect r="2591"/>
          <a:stretch/>
        </p:blipFill>
        <p:spPr>
          <a:xfrm>
            <a:off x="5604050" y="3361900"/>
            <a:ext cx="2588750" cy="156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375" y="3361900"/>
            <a:ext cx="4174554" cy="159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0"/>
          <p:cNvSpPr txBox="1"/>
          <p:nvPr/>
        </p:nvSpPr>
        <p:spPr>
          <a:xfrm>
            <a:off x="3084000" y="1233153"/>
            <a:ext cx="6060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biological processes that differentiate the samples: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-"/>
            </a:pP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0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signaling/receptors/</a:t>
            </a: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response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stimuli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-"/>
            </a:pP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1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</a:t>
            </a: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differentiation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(especially neuronal)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it </a:t>
            </a: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does not add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much </a:t>
            </a: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to clustering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for now…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5604050" y="3364205"/>
            <a:ext cx="2588700" cy="291600"/>
          </a:xfrm>
          <a:prstGeom prst="rect">
            <a:avLst/>
          </a:prstGeom>
          <a:solidFill>
            <a:srgbClr val="FF0000">
              <a:alpha val="257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/>
          <p:nvPr/>
        </p:nvSpPr>
        <p:spPr>
          <a:xfrm>
            <a:off x="100" y="672475"/>
            <a:ext cx="91440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303500" y="1581775"/>
            <a:ext cx="4265700" cy="32940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UMAP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used to project the SNF matrix into 2D while </a:t>
            </a: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preserving the local structure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HDBSCAN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automatically </a:t>
            </a:r>
            <a:r>
              <a:rPr lang="it" sz="15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identifies dense clusters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it" sz="1500" b="1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removes noise </a:t>
            </a: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requiring a predefined number of clusters.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it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chosen parameters ensure compact, stable, and biologically consistent clusters.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/>
          </p:nvPr>
        </p:nvSpPr>
        <p:spPr>
          <a:xfrm>
            <a:off x="138100" y="601150"/>
            <a:ext cx="40380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600" b="1">
                <a:latin typeface="Lexend"/>
                <a:ea typeface="Lexend"/>
                <a:cs typeface="Lexend"/>
                <a:sym typeface="Lexend"/>
              </a:rPr>
              <a:t>HDBSCAN &amp; UMAP</a:t>
            </a:r>
            <a:endParaRPr sz="26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" name="Google Shape;311;p41"/>
          <p:cNvPicPr preferRelativeResize="0"/>
          <p:nvPr/>
        </p:nvPicPr>
        <p:blipFill rotWithShape="1">
          <a:blip r:embed="rId3">
            <a:alphaModFix/>
          </a:blip>
          <a:srcRect r="6454"/>
          <a:stretch/>
        </p:blipFill>
        <p:spPr>
          <a:xfrm>
            <a:off x="4894150" y="1581786"/>
            <a:ext cx="3946549" cy="1632867"/>
          </a:xfrm>
          <a:prstGeom prst="rect">
            <a:avLst/>
          </a:prstGeom>
          <a:noFill/>
          <a:ln w="2857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4150" y="3445325"/>
            <a:ext cx="3946550" cy="1398037"/>
          </a:xfrm>
          <a:prstGeom prst="rect">
            <a:avLst/>
          </a:prstGeom>
          <a:noFill/>
          <a:ln w="2857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3" name="Google Shape;313;p41"/>
          <p:cNvSpPr txBox="1"/>
          <p:nvPr/>
        </p:nvSpPr>
        <p:spPr>
          <a:xfrm>
            <a:off x="138100" y="1954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we choose…</a:t>
            </a:r>
            <a:endParaRPr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/>
          <p:nvPr/>
        </p:nvSpPr>
        <p:spPr>
          <a:xfrm>
            <a:off x="401400" y="1223575"/>
            <a:ext cx="593700" cy="17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42"/>
          <p:cNvSpPr/>
          <p:nvPr/>
        </p:nvSpPr>
        <p:spPr>
          <a:xfrm>
            <a:off x="0" y="1385168"/>
            <a:ext cx="9144000" cy="3072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/>
          </p:nvPr>
        </p:nvSpPr>
        <p:spPr>
          <a:xfrm>
            <a:off x="307200" y="292636"/>
            <a:ext cx="4264800" cy="54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400">
                <a:latin typeface="Lexend"/>
                <a:ea typeface="Lexend"/>
                <a:cs typeface="Lexend"/>
                <a:sym typeface="Lexend"/>
              </a:rPr>
              <a:t>FINAL CLUSTERS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1" name="Google Shape;3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2849" y="1869579"/>
            <a:ext cx="4292999" cy="29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020" y="1869575"/>
            <a:ext cx="4264655" cy="29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2"/>
          <p:cNvSpPr txBox="1"/>
          <p:nvPr/>
        </p:nvSpPr>
        <p:spPr>
          <a:xfrm>
            <a:off x="436100" y="1331282"/>
            <a:ext cx="386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 noise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>
            <a:off x="4878100" y="1331282"/>
            <a:ext cx="386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noise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5" name="Google Shape;32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9037" y="931199"/>
            <a:ext cx="5605916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/>
          <p:nvPr/>
        </p:nvSpPr>
        <p:spPr>
          <a:xfrm>
            <a:off x="-77529" y="0"/>
            <a:ext cx="3127800" cy="5143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3"/>
          <p:cNvSpPr txBox="1">
            <a:spLocks noGrp="1"/>
          </p:cNvSpPr>
          <p:nvPr>
            <p:ph type="title"/>
          </p:nvPr>
        </p:nvSpPr>
        <p:spPr>
          <a:xfrm>
            <a:off x="16075" y="2078250"/>
            <a:ext cx="2940600" cy="9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HISTOGRAMS 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it" sz="2800" b="1">
                <a:latin typeface="Lexend"/>
                <a:ea typeface="Lexend"/>
                <a:cs typeface="Lexend"/>
                <a:sym typeface="Lexend"/>
              </a:rPr>
              <a:t>CLUSTERS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2" name="Google Shape;3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695" y="181463"/>
            <a:ext cx="3733675" cy="251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869" y="2750563"/>
            <a:ext cx="3733676" cy="22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3"/>
          <p:cNvSpPr/>
          <p:nvPr/>
        </p:nvSpPr>
        <p:spPr>
          <a:xfrm>
            <a:off x="4306020" y="205525"/>
            <a:ext cx="1977300" cy="13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43"/>
          <p:cNvSpPr/>
          <p:nvPr/>
        </p:nvSpPr>
        <p:spPr>
          <a:xfrm>
            <a:off x="4342175" y="2762050"/>
            <a:ext cx="1977300" cy="13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7142550" y="944625"/>
            <a:ext cx="17499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Cluster size distribution, without noise.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7142550" y="3212659"/>
            <a:ext cx="17499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7142550" y="3362800"/>
            <a:ext cx="17499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Variance of the clusters, without noise.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/>
          <p:nvPr/>
        </p:nvSpPr>
        <p:spPr>
          <a:xfrm>
            <a:off x="1553775" y="919563"/>
            <a:ext cx="6270600" cy="4152600"/>
          </a:xfrm>
          <a:prstGeom prst="rect">
            <a:avLst/>
          </a:prstGeom>
          <a:solidFill>
            <a:srgbClr val="569CD6">
              <a:alpha val="3544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0" y="194341"/>
            <a:ext cx="9144000" cy="6552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44"/>
          <p:cNvSpPr txBox="1">
            <a:spLocks noGrp="1"/>
          </p:cNvSpPr>
          <p:nvPr>
            <p:ph type="title"/>
          </p:nvPr>
        </p:nvSpPr>
        <p:spPr>
          <a:xfrm>
            <a:off x="387900" y="163441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latin typeface="Lexend"/>
                <a:ea typeface="Lexend"/>
                <a:cs typeface="Lexend"/>
                <a:sym typeface="Lexend"/>
              </a:rPr>
              <a:t>CENTROIDS</a:t>
            </a:r>
            <a:r>
              <a:rPr lang="it">
                <a:latin typeface="Lexend"/>
                <a:ea typeface="Lexend"/>
                <a:cs typeface="Lexend"/>
                <a:sym typeface="Lexend"/>
              </a:rPr>
              <a:t> OF THE CLUSTERS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44"/>
          <p:cNvPicPr preferRelativeResize="0"/>
          <p:nvPr/>
        </p:nvPicPr>
        <p:blipFill rotWithShape="1">
          <a:blip r:embed="rId3">
            <a:alphaModFix/>
          </a:blip>
          <a:srcRect t="4177" r="16991"/>
          <a:stretch/>
        </p:blipFill>
        <p:spPr>
          <a:xfrm>
            <a:off x="2149400" y="1289475"/>
            <a:ext cx="4213399" cy="33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4" title="Screenshot 2025-11-19 alle 11.06.46.png"/>
          <p:cNvPicPr preferRelativeResize="0"/>
          <p:nvPr/>
        </p:nvPicPr>
        <p:blipFill rotWithShape="1">
          <a:blip r:embed="rId4">
            <a:alphaModFix/>
          </a:blip>
          <a:srcRect l="4324"/>
          <a:stretch/>
        </p:blipFill>
        <p:spPr>
          <a:xfrm>
            <a:off x="6653125" y="1023613"/>
            <a:ext cx="937941" cy="39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4"/>
          <p:cNvSpPr/>
          <p:nvPr/>
        </p:nvSpPr>
        <p:spPr>
          <a:xfrm>
            <a:off x="389625" y="1123275"/>
            <a:ext cx="888000" cy="264600"/>
          </a:xfrm>
          <a:prstGeom prst="rect">
            <a:avLst/>
          </a:prstGeom>
          <a:solidFill>
            <a:srgbClr val="00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/>
          <p:nvPr/>
        </p:nvSpPr>
        <p:spPr>
          <a:xfrm>
            <a:off x="1651200" y="229600"/>
            <a:ext cx="74157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326975" y="1137313"/>
            <a:ext cx="696600" cy="3030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45"/>
          <p:cNvSpPr txBox="1">
            <a:spLocks noGrp="1"/>
          </p:cNvSpPr>
          <p:nvPr>
            <p:ph type="title"/>
          </p:nvPr>
        </p:nvSpPr>
        <p:spPr>
          <a:xfrm>
            <a:off x="6315300" y="198693"/>
            <a:ext cx="27054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CENTROIDS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6" name="Google Shape;356;p45"/>
          <p:cNvPicPr preferRelativeResize="0"/>
          <p:nvPr/>
        </p:nvPicPr>
        <p:blipFill rotWithShape="1">
          <a:blip r:embed="rId3">
            <a:alphaModFix/>
          </a:blip>
          <a:srcRect t="4177" r="16247"/>
          <a:stretch/>
        </p:blipFill>
        <p:spPr>
          <a:xfrm>
            <a:off x="5463599" y="1765875"/>
            <a:ext cx="3603304" cy="28642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7" name="Google Shape;357;p45"/>
          <p:cNvGraphicFramePr/>
          <p:nvPr/>
        </p:nvGraphicFramePr>
        <p:xfrm>
          <a:off x="128660" y="1261805"/>
          <a:ext cx="5256600" cy="1765215"/>
        </p:xfrm>
        <a:graphic>
          <a:graphicData uri="http://schemas.openxmlformats.org/drawingml/2006/table">
            <a:tbl>
              <a:tblPr>
                <a:noFill/>
                <a:tableStyleId>{A9CEDDC6-489D-4E7B-A60C-A64FB7109CF7}</a:tableStyleId>
              </a:tblPr>
              <a:tblGrid>
                <a:gridCol w="104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Category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 Term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MF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GO:0140110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Transcription regulator activity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GO:0000785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Centromeric region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BP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GO:0006357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Regulation of transcription by RNA Pol II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8" name="Google Shape;358;p45"/>
          <p:cNvSpPr txBox="1"/>
          <p:nvPr/>
        </p:nvSpPr>
        <p:spPr>
          <a:xfrm>
            <a:off x="128650" y="575704"/>
            <a:ext cx="1651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it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Cluster 5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9" name="Google Shape;359;p45"/>
          <p:cNvGraphicFramePr/>
          <p:nvPr/>
        </p:nvGraphicFramePr>
        <p:xfrm>
          <a:off x="128641" y="3474896"/>
          <a:ext cx="5256600" cy="1412438"/>
        </p:xfrm>
        <a:graphic>
          <a:graphicData uri="http://schemas.openxmlformats.org/drawingml/2006/table">
            <a:tbl>
              <a:tblPr>
                <a:noFill/>
                <a:tableStyleId>{A9CEDDC6-489D-4E7B-A60C-A64FB7109CF7}</a:tableStyleId>
              </a:tblPr>
              <a:tblGrid>
                <a:gridCol w="11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Category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 Term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MF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GO:0005201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Extracellular matrix structural constituent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GO:0031012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Extracellular matrix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BP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GO:0030198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Extracellular matrix organization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0" name="Google Shape;360;p45"/>
          <p:cNvSpPr txBox="1"/>
          <p:nvPr/>
        </p:nvSpPr>
        <p:spPr>
          <a:xfrm>
            <a:off x="128641" y="2921094"/>
            <a:ext cx="20859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it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Cluster 20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8108850" y="2243619"/>
            <a:ext cx="830700" cy="897300"/>
          </a:xfrm>
          <a:prstGeom prst="flowChartConnector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5991225" y="2032225"/>
            <a:ext cx="527100" cy="553800"/>
          </a:xfrm>
          <a:prstGeom prst="flowChartConnector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46"/>
          <p:cNvGraphicFramePr/>
          <p:nvPr/>
        </p:nvGraphicFramePr>
        <p:xfrm>
          <a:off x="152150" y="3346819"/>
          <a:ext cx="5201425" cy="1580078"/>
        </p:xfrm>
        <a:graphic>
          <a:graphicData uri="http://schemas.openxmlformats.org/drawingml/2006/table">
            <a:tbl>
              <a:tblPr>
                <a:noFill/>
                <a:tableStyleId>{A9CEDDC6-489D-4E7B-A60C-A64FB7109CF7}</a:tableStyleId>
              </a:tblPr>
              <a:tblGrid>
                <a:gridCol w="96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Category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 Term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MF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GO:0004553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Hydrolase activity (O-glycosyl compounds)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GO:0005775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Vacuolar lumen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BP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GO:0005975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Carbohydrate metabolic process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/>
          </a:blip>
          <a:srcRect t="4177" r="16247"/>
          <a:stretch/>
        </p:blipFill>
        <p:spPr>
          <a:xfrm>
            <a:off x="5417400" y="1597075"/>
            <a:ext cx="3603304" cy="286424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6"/>
          <p:cNvSpPr/>
          <p:nvPr/>
        </p:nvSpPr>
        <p:spPr>
          <a:xfrm>
            <a:off x="1651200" y="229600"/>
            <a:ext cx="7415700" cy="624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46"/>
          <p:cNvSpPr txBox="1">
            <a:spLocks noGrp="1"/>
          </p:cNvSpPr>
          <p:nvPr>
            <p:ph type="title"/>
          </p:nvPr>
        </p:nvSpPr>
        <p:spPr>
          <a:xfrm>
            <a:off x="6315300" y="198693"/>
            <a:ext cx="27054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CENTROIDS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326975" y="1137313"/>
            <a:ext cx="696600" cy="3030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72" name="Google Shape;372;p46"/>
          <p:cNvGraphicFramePr/>
          <p:nvPr/>
        </p:nvGraphicFramePr>
        <p:xfrm>
          <a:off x="95583" y="1308375"/>
          <a:ext cx="5258000" cy="1415670"/>
        </p:xfrm>
        <a:graphic>
          <a:graphicData uri="http://schemas.openxmlformats.org/drawingml/2006/table">
            <a:tbl>
              <a:tblPr>
                <a:noFill/>
                <a:tableStyleId>{A9CEDDC6-489D-4E7B-A60C-A64FB7109CF7}</a:tableStyleId>
              </a:tblPr>
              <a:tblGrid>
                <a:gridCol w="102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Category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 Term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MF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GO:0016757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Glycosyltransferase activity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GO:0000139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Golgi membrane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BP</a:t>
                      </a:r>
                      <a:endParaRPr sz="11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GO:0009100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Glycolipid biosynthetic process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3" name="Google Shape;373;p46"/>
          <p:cNvSpPr txBox="1"/>
          <p:nvPr/>
        </p:nvSpPr>
        <p:spPr>
          <a:xfrm>
            <a:off x="128650" y="575704"/>
            <a:ext cx="1651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it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Cluster 15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46"/>
          <p:cNvSpPr txBox="1"/>
          <p:nvPr/>
        </p:nvSpPr>
        <p:spPr>
          <a:xfrm>
            <a:off x="128641" y="2752293"/>
            <a:ext cx="20859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it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Cluster 16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46"/>
          <p:cNvSpPr/>
          <p:nvPr/>
        </p:nvSpPr>
        <p:spPr>
          <a:xfrm>
            <a:off x="6251800" y="3431375"/>
            <a:ext cx="392700" cy="303000"/>
          </a:xfrm>
          <a:prstGeom prst="flowChartConnector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6"/>
          <p:cNvSpPr/>
          <p:nvPr/>
        </p:nvSpPr>
        <p:spPr>
          <a:xfrm rot="-884780">
            <a:off x="6523983" y="2871530"/>
            <a:ext cx="945234" cy="375037"/>
          </a:xfrm>
          <a:prstGeom prst="flowChartConnector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/>
          <p:nvPr/>
        </p:nvSpPr>
        <p:spPr>
          <a:xfrm>
            <a:off x="5137600" y="1614053"/>
            <a:ext cx="3701700" cy="2046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7"/>
          <p:cNvSpPr/>
          <p:nvPr/>
        </p:nvSpPr>
        <p:spPr>
          <a:xfrm>
            <a:off x="5137600" y="2802424"/>
            <a:ext cx="3701700" cy="2046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47"/>
          <p:cNvSpPr/>
          <p:nvPr/>
        </p:nvSpPr>
        <p:spPr>
          <a:xfrm>
            <a:off x="5137600" y="4009493"/>
            <a:ext cx="3701700" cy="2046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7"/>
          <p:cNvSpPr/>
          <p:nvPr/>
        </p:nvSpPr>
        <p:spPr>
          <a:xfrm>
            <a:off x="5137600" y="554668"/>
            <a:ext cx="3701700" cy="2046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5" name="Google Shape;385;p47"/>
          <p:cNvPicPr preferRelativeResize="0"/>
          <p:nvPr/>
        </p:nvPicPr>
        <p:blipFill rotWithShape="1">
          <a:blip r:embed="rId3">
            <a:alphaModFix/>
          </a:blip>
          <a:srcRect r="7800"/>
          <a:stretch/>
        </p:blipFill>
        <p:spPr>
          <a:xfrm>
            <a:off x="387900" y="1513600"/>
            <a:ext cx="4453299" cy="34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41841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CLUSTER ANALYSIS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/>
          </p:nvPr>
        </p:nvSpPr>
        <p:spPr>
          <a:xfrm>
            <a:off x="2432140" y="3449712"/>
            <a:ext cx="569100" cy="603000"/>
          </a:xfrm>
          <a:prstGeom prst="rect">
            <a:avLst/>
          </a:prstGeom>
        </p:spPr>
        <p:txBody>
          <a:bodyPr spcFirstLastPara="1" wrap="square" lIns="80325" tIns="80325" rIns="80325" bIns="803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36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936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47"/>
          <p:cNvSpPr txBox="1">
            <a:spLocks noGrp="1"/>
          </p:cNvSpPr>
          <p:nvPr>
            <p:ph type="title"/>
          </p:nvPr>
        </p:nvSpPr>
        <p:spPr>
          <a:xfrm>
            <a:off x="1057506" y="3894941"/>
            <a:ext cx="569100" cy="603000"/>
          </a:xfrm>
          <a:prstGeom prst="rect">
            <a:avLst/>
          </a:prstGeom>
        </p:spPr>
        <p:txBody>
          <a:bodyPr spcFirstLastPara="1" wrap="square" lIns="80325" tIns="80325" rIns="80325" bIns="803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36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936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/>
          </p:nvPr>
        </p:nvSpPr>
        <p:spPr>
          <a:xfrm>
            <a:off x="3608882" y="2089399"/>
            <a:ext cx="569100" cy="603000"/>
          </a:xfrm>
          <a:prstGeom prst="rect">
            <a:avLst/>
          </a:prstGeom>
        </p:spPr>
        <p:txBody>
          <a:bodyPr spcFirstLastPara="1" wrap="square" lIns="80325" tIns="80325" rIns="80325" bIns="803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36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936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47"/>
          <p:cNvSpPr txBox="1">
            <a:spLocks noGrp="1"/>
          </p:cNvSpPr>
          <p:nvPr>
            <p:ph type="title"/>
          </p:nvPr>
        </p:nvSpPr>
        <p:spPr>
          <a:xfrm>
            <a:off x="1397421" y="1929366"/>
            <a:ext cx="569100" cy="603000"/>
          </a:xfrm>
          <a:prstGeom prst="rect">
            <a:avLst/>
          </a:prstGeom>
        </p:spPr>
        <p:txBody>
          <a:bodyPr spcFirstLastPara="1" wrap="square" lIns="80325" tIns="80325" rIns="80325" bIns="803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36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936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47"/>
          <p:cNvSpPr txBox="1"/>
          <p:nvPr/>
        </p:nvSpPr>
        <p:spPr>
          <a:xfrm>
            <a:off x="5062285" y="2707984"/>
            <a:ext cx="3921900" cy="10773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genes are mainly located in the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Golgi apparatus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related compartments, consistent with roles in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carbohydrate processing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protein glycosylation/transport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47"/>
          <p:cNvSpPr txBox="1"/>
          <p:nvPr/>
        </p:nvSpPr>
        <p:spPr>
          <a:xfrm>
            <a:off x="5070500" y="457850"/>
            <a:ext cx="3887100" cy="9081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genes localize mainly to the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nucleus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chromosomes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transcription-related complexes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consistent with their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regulatory role in transcription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47"/>
          <p:cNvSpPr txBox="1"/>
          <p:nvPr/>
        </p:nvSpPr>
        <p:spPr>
          <a:xfrm>
            <a:off x="5027491" y="3906886"/>
            <a:ext cx="3921900" cy="10773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genes localize to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vacuoles, lysosomes, and vesicles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consistent with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metabolic and enzymatic functions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that process sugars within intracellular compartments.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47"/>
          <p:cNvSpPr txBox="1"/>
          <p:nvPr/>
        </p:nvSpPr>
        <p:spPr>
          <a:xfrm>
            <a:off x="5062275" y="1509075"/>
            <a:ext cx="3887100" cy="1077300"/>
          </a:xfrm>
          <a:prstGeom prst="rect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localizations align with the BP and MF terms: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extracellular matrix, collagen, basement membrane, and cortical cytoskeleton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all structures involved in </a:t>
            </a:r>
            <a:r>
              <a:rPr lang="it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tissue support and adhesion</a:t>
            </a:r>
            <a:r>
              <a:rPr lang="it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8"/>
          <p:cNvSpPr/>
          <p:nvPr/>
        </p:nvSpPr>
        <p:spPr>
          <a:xfrm>
            <a:off x="3591525" y="302500"/>
            <a:ext cx="5446200" cy="1440600"/>
          </a:xfrm>
          <a:prstGeom prst="rect">
            <a:avLst/>
          </a:prstGeom>
          <a:noFill/>
          <a:ln w="952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48"/>
          <p:cNvSpPr/>
          <p:nvPr/>
        </p:nvSpPr>
        <p:spPr>
          <a:xfrm>
            <a:off x="3591525" y="1817575"/>
            <a:ext cx="5463300" cy="1694400"/>
          </a:xfrm>
          <a:prstGeom prst="rect">
            <a:avLst/>
          </a:prstGeom>
          <a:noFill/>
          <a:ln w="952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48"/>
          <p:cNvSpPr/>
          <p:nvPr/>
        </p:nvSpPr>
        <p:spPr>
          <a:xfrm>
            <a:off x="3597775" y="3589875"/>
            <a:ext cx="5463300" cy="1325400"/>
          </a:xfrm>
          <a:prstGeom prst="rect">
            <a:avLst/>
          </a:prstGeom>
          <a:noFill/>
          <a:ln w="952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48"/>
          <p:cNvSpPr/>
          <p:nvPr/>
        </p:nvSpPr>
        <p:spPr>
          <a:xfrm>
            <a:off x="3736644" y="3655024"/>
            <a:ext cx="5240400" cy="238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48"/>
          <p:cNvSpPr/>
          <p:nvPr/>
        </p:nvSpPr>
        <p:spPr>
          <a:xfrm>
            <a:off x="3705716" y="1859724"/>
            <a:ext cx="5240400" cy="238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48"/>
          <p:cNvSpPr/>
          <p:nvPr/>
        </p:nvSpPr>
        <p:spPr>
          <a:xfrm>
            <a:off x="3695583" y="347624"/>
            <a:ext cx="5240400" cy="238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/>
          </p:nvPr>
        </p:nvSpPr>
        <p:spPr>
          <a:xfrm>
            <a:off x="92775" y="149800"/>
            <a:ext cx="25635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it" sz="2800">
                <a:latin typeface="Lexend"/>
                <a:ea typeface="Lexend"/>
                <a:cs typeface="Lexend"/>
                <a:sym typeface="Lexend"/>
              </a:rPr>
              <a:t>CLUSTER 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48"/>
          <p:cNvSpPr txBox="1"/>
          <p:nvPr/>
        </p:nvSpPr>
        <p:spPr>
          <a:xfrm>
            <a:off x="3725981" y="623149"/>
            <a:ext cx="30000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GO.0045109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regulation of receptor signaling pathway via JAK-STAT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GO.0045104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regulation of somatic stem cell proliferation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GO.0031424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keratinocyte differentiation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GO.0030216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keratinocyte proliferation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GO.0043588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skin development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48"/>
          <p:cNvSpPr txBox="1"/>
          <p:nvPr/>
        </p:nvSpPr>
        <p:spPr>
          <a:xfrm>
            <a:off x="3672292" y="2135174"/>
            <a:ext cx="30000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GO.0030280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potassium ion transmembrane transporter activity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GO.0005198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structural molecule activity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GO.0005200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structural constituent of cytoskeleton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GO.0019215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transmembrane receptor protein tyrosine kinase activity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GO.1990254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voltage-gated ion channel activity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48"/>
          <p:cNvSpPr txBox="1"/>
          <p:nvPr/>
        </p:nvSpPr>
        <p:spPr>
          <a:xfrm>
            <a:off x="3725981" y="3885474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GO.0005882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intermediate filament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GO.0045111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intercellular junction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GO.0045095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cell junction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GO.0099512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transmembrane transporter complex</a:t>
            </a:r>
            <a:endParaRPr sz="8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GO.0001533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lang="it" sz="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cornified envelope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48"/>
          <p:cNvSpPr txBox="1"/>
          <p:nvPr/>
        </p:nvSpPr>
        <p:spPr>
          <a:xfrm>
            <a:off x="6780081" y="715024"/>
            <a:ext cx="22728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cluster includes genes involved in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skin development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keratinocyte proliferation and differentiation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along with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JAK–STAT signaling regulation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related to cell growth and differentiation.</a:t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48"/>
          <p:cNvSpPr txBox="1"/>
          <p:nvPr/>
        </p:nvSpPr>
        <p:spPr>
          <a:xfrm>
            <a:off x="6780074" y="2264062"/>
            <a:ext cx="2272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molecular functions include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ion transport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cytoskeletal structural components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tyrosine-kinase receptors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consistent with the regulation of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keratinocyte proliferation and differentiation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48"/>
          <p:cNvSpPr txBox="1"/>
          <p:nvPr/>
        </p:nvSpPr>
        <p:spPr>
          <a:xfrm>
            <a:off x="6829381" y="3954694"/>
            <a:ext cx="20868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genes localize to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intermediate filaments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cell junctions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skin-related structures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(the </a:t>
            </a:r>
            <a:r>
              <a:rPr lang="it" sz="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cornified envelope</a:t>
            </a:r>
            <a:r>
              <a:rPr lang="it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 consistent with the BP and MF terms.</a:t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2" name="Google Shape;41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50" y="971600"/>
            <a:ext cx="3413186" cy="237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8"/>
          <p:cNvPicPr preferRelativeResize="0"/>
          <p:nvPr/>
        </p:nvPicPr>
        <p:blipFill rotWithShape="1">
          <a:blip r:embed="rId4">
            <a:alphaModFix/>
          </a:blip>
          <a:srcRect t="13449" r="9518"/>
          <a:stretch/>
        </p:blipFill>
        <p:spPr>
          <a:xfrm>
            <a:off x="75750" y="3478113"/>
            <a:ext cx="2039999" cy="13609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4" name="Google Shape;414;p48"/>
          <p:cNvCxnSpPr/>
          <p:nvPr/>
        </p:nvCxnSpPr>
        <p:spPr>
          <a:xfrm>
            <a:off x="6725981" y="777274"/>
            <a:ext cx="0" cy="891300"/>
          </a:xfrm>
          <a:prstGeom prst="straightConnector1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5" name="Google Shape;415;p48"/>
          <p:cNvSpPr txBox="1"/>
          <p:nvPr/>
        </p:nvSpPr>
        <p:spPr>
          <a:xfrm>
            <a:off x="3797456" y="3454228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900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CC (Cellular Component)</a:t>
            </a:r>
            <a:endParaRPr dirty="0"/>
          </a:p>
        </p:txBody>
      </p:sp>
      <p:cxnSp>
        <p:nvCxnSpPr>
          <p:cNvPr id="416" name="Google Shape;416;p48"/>
          <p:cNvCxnSpPr/>
          <p:nvPr/>
        </p:nvCxnSpPr>
        <p:spPr>
          <a:xfrm>
            <a:off x="6672281" y="2364324"/>
            <a:ext cx="0" cy="891300"/>
          </a:xfrm>
          <a:prstGeom prst="straightConnector1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48"/>
          <p:cNvCxnSpPr/>
          <p:nvPr/>
        </p:nvCxnSpPr>
        <p:spPr>
          <a:xfrm>
            <a:off x="6732781" y="3947724"/>
            <a:ext cx="0" cy="891300"/>
          </a:xfrm>
          <a:prstGeom prst="straightConnector1">
            <a:avLst/>
          </a:prstGeom>
          <a:noFill/>
          <a:ln w="19050" cap="flat" cmpd="sng">
            <a:solidFill>
              <a:srgbClr val="569CD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8" name="Google Shape;418;p48"/>
          <p:cNvSpPr txBox="1"/>
          <p:nvPr/>
        </p:nvSpPr>
        <p:spPr>
          <a:xfrm>
            <a:off x="3725981" y="163468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it" sz="900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MF (Molecular Function)</a:t>
            </a:r>
            <a:endParaRPr dirty="0"/>
          </a:p>
        </p:txBody>
      </p:sp>
      <p:sp>
        <p:nvSpPr>
          <p:cNvPr id="419" name="Google Shape;419;p48"/>
          <p:cNvSpPr txBox="1">
            <a:spLocks noGrp="1"/>
          </p:cNvSpPr>
          <p:nvPr>
            <p:ph type="title"/>
          </p:nvPr>
        </p:nvSpPr>
        <p:spPr>
          <a:xfrm>
            <a:off x="1392200" y="1161685"/>
            <a:ext cx="304800" cy="409800"/>
          </a:xfrm>
          <a:prstGeom prst="rect">
            <a:avLst/>
          </a:prstGeom>
        </p:spPr>
        <p:txBody>
          <a:bodyPr spcFirstLastPara="1" wrap="square" lIns="80325" tIns="80325" rIns="80325" bIns="803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936">
                <a:solidFill>
                  <a:srgbClr val="00517C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936">
              <a:solidFill>
                <a:srgbClr val="00517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48"/>
          <p:cNvSpPr txBox="1"/>
          <p:nvPr/>
        </p:nvSpPr>
        <p:spPr>
          <a:xfrm>
            <a:off x="3725981" y="305324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BP (Biological Process)</a:t>
            </a:r>
            <a:endParaRPr/>
          </a:p>
        </p:txBody>
      </p:sp>
      <p:sp>
        <p:nvSpPr>
          <p:cNvPr id="421" name="Google Shape;421;p48"/>
          <p:cNvSpPr/>
          <p:nvPr/>
        </p:nvSpPr>
        <p:spPr>
          <a:xfrm>
            <a:off x="960381" y="3504581"/>
            <a:ext cx="304800" cy="173700"/>
          </a:xfrm>
          <a:prstGeom prst="flowChartConnector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48"/>
          <p:cNvCxnSpPr>
            <a:stCxn id="421" idx="0"/>
          </p:cNvCxnSpPr>
          <p:nvPr/>
        </p:nvCxnSpPr>
        <p:spPr>
          <a:xfrm rot="10800000" flipH="1">
            <a:off x="1112781" y="1483181"/>
            <a:ext cx="329700" cy="2021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"/>
          <p:cNvSpPr txBox="1"/>
          <p:nvPr/>
        </p:nvSpPr>
        <p:spPr>
          <a:xfrm>
            <a:off x="448275" y="2594847"/>
            <a:ext cx="3642000" cy="1677600"/>
          </a:xfrm>
          <a:prstGeom prst="rect">
            <a:avLst/>
          </a:prstGeom>
          <a:noFill/>
          <a:ln w="2857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MOFA shows that the global structure </a:t>
            </a:r>
            <a:r>
              <a:rPr lang="it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data is driven by signaling and differentiation.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49"/>
          <p:cNvSpPr txBox="1"/>
          <p:nvPr/>
        </p:nvSpPr>
        <p:spPr>
          <a:xfrm>
            <a:off x="3084000" y="1132300"/>
            <a:ext cx="288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277975" y="1132300"/>
            <a:ext cx="1012800" cy="265200"/>
          </a:xfrm>
          <a:prstGeom prst="rect">
            <a:avLst/>
          </a:prstGeom>
          <a:solidFill>
            <a:srgbClr val="00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49"/>
          <p:cNvSpPr/>
          <p:nvPr/>
        </p:nvSpPr>
        <p:spPr>
          <a:xfrm>
            <a:off x="277956" y="301350"/>
            <a:ext cx="8497800" cy="6861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277950" y="248509"/>
            <a:ext cx="84978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600" b="1">
                <a:latin typeface="Lexend"/>
                <a:ea typeface="Lexend"/>
                <a:cs typeface="Lexend"/>
                <a:sym typeface="Lexend"/>
              </a:rPr>
              <a:t>MOFA FACTORS &amp; CLUSTERS</a:t>
            </a:r>
            <a:endParaRPr sz="2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49"/>
          <p:cNvSpPr txBox="1"/>
          <p:nvPr/>
        </p:nvSpPr>
        <p:spPr>
          <a:xfrm>
            <a:off x="403125" y="1542349"/>
            <a:ext cx="87831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Infact the dataset is primarily structured by variation in extracellular signaling and receptor-mediated responses, as captured by MOFA Factor 0 and 1.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49"/>
          <p:cNvSpPr txBox="1"/>
          <p:nvPr/>
        </p:nvSpPr>
        <p:spPr>
          <a:xfrm>
            <a:off x="5289225" y="2571751"/>
            <a:ext cx="3406500" cy="1723800"/>
          </a:xfrm>
          <a:prstGeom prst="rect">
            <a:avLst/>
          </a:prstGeom>
          <a:noFill/>
          <a:ln w="28575" cap="flat" cmpd="sng">
            <a:solidFill>
              <a:srgbClr val="569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</a:t>
            </a:r>
            <a:r>
              <a:rPr lang="it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UMAP + HDBSCAN</a:t>
            </a:r>
            <a:r>
              <a:rPr lang="it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we then resolved this variation into 25 biologically coherent clusters.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>
            <a:spLocks noGrp="1"/>
          </p:cNvSpPr>
          <p:nvPr>
            <p:ph type="title"/>
          </p:nvPr>
        </p:nvSpPr>
        <p:spPr>
          <a:xfrm>
            <a:off x="973650" y="1260343"/>
            <a:ext cx="7196700" cy="10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5900">
                <a:latin typeface="Lexend"/>
                <a:ea typeface="Lexend"/>
                <a:cs typeface="Lexend"/>
                <a:sym typeface="Lexend"/>
              </a:rPr>
              <a:t>THANKS </a:t>
            </a:r>
            <a:endParaRPr sz="5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50"/>
          <p:cNvSpPr txBox="1">
            <a:spLocks noGrp="1"/>
          </p:cNvSpPr>
          <p:nvPr>
            <p:ph type="subTitle" idx="4294967295"/>
          </p:nvPr>
        </p:nvSpPr>
        <p:spPr>
          <a:xfrm>
            <a:off x="3282603" y="2882036"/>
            <a:ext cx="25788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Porcelli Angelica - 78083A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Roveda Gianluca - 73814A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Stefanelli Marta - 84393A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50"/>
          <p:cNvSpPr/>
          <p:nvPr/>
        </p:nvSpPr>
        <p:spPr>
          <a:xfrm>
            <a:off x="204500" y="1003575"/>
            <a:ext cx="1513500" cy="84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50"/>
          <p:cNvSpPr/>
          <p:nvPr/>
        </p:nvSpPr>
        <p:spPr>
          <a:xfrm>
            <a:off x="0" y="2382608"/>
            <a:ext cx="9144000" cy="3783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1"/>
          <p:cNvSpPr/>
          <p:nvPr/>
        </p:nvSpPr>
        <p:spPr>
          <a:xfrm>
            <a:off x="-77529" y="0"/>
            <a:ext cx="3127800" cy="5143500"/>
          </a:xfrm>
          <a:prstGeom prst="rect">
            <a:avLst/>
          </a:prstGeom>
          <a:solidFill>
            <a:srgbClr val="569C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51"/>
          <p:cNvSpPr txBox="1">
            <a:spLocks noGrp="1"/>
          </p:cNvSpPr>
          <p:nvPr>
            <p:ph type="title"/>
          </p:nvPr>
        </p:nvSpPr>
        <p:spPr>
          <a:xfrm>
            <a:off x="16075" y="2078250"/>
            <a:ext cx="2940600" cy="9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00" b="1">
                <a:latin typeface="Lexend"/>
                <a:ea typeface="Lexend"/>
                <a:cs typeface="Lexend"/>
                <a:sym typeface="Lexend"/>
              </a:rPr>
              <a:t>AI</a:t>
            </a:r>
            <a:r>
              <a:rPr lang="it" sz="2800">
                <a:latin typeface="Lexend"/>
                <a:ea typeface="Lexend"/>
                <a:cs typeface="Lexend"/>
                <a:sym typeface="Lexend"/>
              </a:rPr>
              <a:t> EXPERIENCE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51"/>
          <p:cNvSpPr txBox="1"/>
          <p:nvPr/>
        </p:nvSpPr>
        <p:spPr>
          <a:xfrm>
            <a:off x="4275300" y="1694025"/>
            <a:ext cx="36915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codes errors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51"/>
          <p:cNvSpPr txBox="1"/>
          <p:nvPr/>
        </p:nvSpPr>
        <p:spPr>
          <a:xfrm>
            <a:off x="4048050" y="3212650"/>
            <a:ext cx="41460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 terms explanation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1220</Words>
  <Application>Microsoft Office PowerPoint</Application>
  <PresentationFormat>Presentazione su schermo (16:9)</PresentationFormat>
  <Paragraphs>259</Paragraphs>
  <Slides>27</Slides>
  <Notes>27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27</vt:i4>
      </vt:variant>
    </vt:vector>
  </HeadingPairs>
  <TitlesOfParts>
    <vt:vector size="34" baseType="lpstr">
      <vt:lpstr>Roboto Slab</vt:lpstr>
      <vt:lpstr>Arial</vt:lpstr>
      <vt:lpstr>Lexend</vt:lpstr>
      <vt:lpstr>Courier New</vt:lpstr>
      <vt:lpstr>Roboto</vt:lpstr>
      <vt:lpstr>Simple Light</vt:lpstr>
      <vt:lpstr>Marina</vt:lpstr>
      <vt:lpstr>GO/HPO </vt:lpstr>
      <vt:lpstr>WORK FLOW</vt:lpstr>
      <vt:lpstr>DATASET</vt:lpstr>
      <vt:lpstr>FEATURE SELECTION</vt:lpstr>
      <vt:lpstr>SINGLE JACCARD FUNCTION</vt:lpstr>
      <vt:lpstr>TF - IDF</vt:lpstr>
      <vt:lpstr>CC CLUSTERS</vt:lpstr>
      <vt:lpstr>MF CLUSTERS</vt:lpstr>
      <vt:lpstr>BP CLUSTERS</vt:lpstr>
      <vt:lpstr>HPO CLUSTERS</vt:lpstr>
      <vt:lpstr>CURIOSITY FOR</vt:lpstr>
      <vt:lpstr>PREPARATION FOR SNF</vt:lpstr>
      <vt:lpstr>SIMILARITY NETWORK FUSION - SNF</vt:lpstr>
      <vt:lpstr>WHERE DID THE HPO GO?</vt:lpstr>
      <vt:lpstr>OTHER  COMBINATIONS</vt:lpstr>
      <vt:lpstr>MOFA FACTORS</vt:lpstr>
      <vt:lpstr>HDBSCAN &amp; UMAP</vt:lpstr>
      <vt:lpstr>FINAL CLUSTERS</vt:lpstr>
      <vt:lpstr>HISTOGRAMS  OF CLUSTERS</vt:lpstr>
      <vt:lpstr>CENTROIDS OF THE CLUSTERS</vt:lpstr>
      <vt:lpstr>CENTROIDS</vt:lpstr>
      <vt:lpstr>CENTROIDS</vt:lpstr>
      <vt:lpstr>CLUSTER ANALYSIS</vt:lpstr>
      <vt:lpstr>CLUSTER 2</vt:lpstr>
      <vt:lpstr>MOFA FACTORS &amp; CLUSTERS</vt:lpstr>
      <vt:lpstr>THANKS </vt:lpstr>
      <vt:lpstr>AI EXPERIENCE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Angelica</dc:creator>
  <cp:lastModifiedBy>Angelica Porcelli</cp:lastModifiedBy>
  <cp:revision>1</cp:revision>
  <dcterms:modified xsi:type="dcterms:W3CDTF">2025-11-24T12:35:50Z</dcterms:modified>
</cp:coreProperties>
</file>